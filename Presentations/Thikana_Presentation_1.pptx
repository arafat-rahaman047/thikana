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995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6AD25-204E-C05C-6926-C647A9360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B7609-F5E7-1034-DFC3-340B14782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D42F5-39EA-E0BB-7C33-913471F88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A9423-E515-3492-823D-A6E7AB49EA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95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0"/>
            <a:ext cx="4983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55948" y="33528"/>
            <a:ext cx="4983480" cy="5143500"/>
          </a:xfrm>
          <a:prstGeom prst="rect">
            <a:avLst/>
          </a:prstGeom>
          <a:solidFill>
            <a:srgbClr val="025E6D">
              <a:alpha val="8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133088" y="0"/>
            <a:ext cx="91440" cy="514350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274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ঠ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74320" y="1188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274320" y="19933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ঠিকানা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4320" y="25146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Real Estate &amp;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Management Platform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4320" y="3401568"/>
            <a:ext cx="3474720" cy="2286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3204210"/>
            <a:ext cx="3657600" cy="1010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FD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  |  Dept. of CSE
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Barishal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>
              <a:solidFill>
                <a:srgbClr val="FDF3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24528" y="4206240"/>
            <a:ext cx="4846320" cy="6858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343400" y="42245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tenants, owners &amp; agencies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Bangladesh — digitally.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4663440"/>
            <a:ext cx="3657600" cy="320040"/>
          </a:xfrm>
          <a:prstGeom prst="roundRect">
            <a:avLst>
              <a:gd name="adj" fmla="val 17143"/>
            </a:avLst>
          </a:prstGeom>
          <a:solidFill>
            <a:srgbClr val="025E6D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950" b="1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 Stack Alchemists Team</a:t>
            </a:r>
            <a:endParaRPr lang="en-US" sz="95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315968" y="4736592"/>
            <a:ext cx="4663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DAE7DF1-6961-F6FA-B681-C379564D3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63" y="132503"/>
            <a:ext cx="1714754" cy="11431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99C70FA-4CA1-82F1-FA3E-04DA7E80C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4378" y="55880"/>
            <a:ext cx="966470" cy="9664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1CF931C-3498-91D5-56F0-BBAB250C8A8A}"/>
              </a:ext>
            </a:extLst>
          </p:cNvPr>
          <p:cNvSpPr txBox="1"/>
          <p:nvPr/>
        </p:nvSpPr>
        <p:spPr>
          <a:xfrm>
            <a:off x="4572000" y="1275672"/>
            <a:ext cx="4121150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IBM Plex Mono" panose="020B0809050203000203" pitchFamily="49" charset="0"/>
              </a:rPr>
              <a:t>Team: Full Stack Alchemists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100" u="sng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Team Lead:</a:t>
            </a:r>
            <a:r>
              <a:rPr lang="en-US" sz="11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 </a:t>
            </a:r>
            <a:r>
              <a:rPr lang="en-US" sz="1100" i="1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Arafat Rahaman</a:t>
            </a:r>
            <a:r>
              <a:rPr lang="en-US" sz="11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  (22CSE047)</a:t>
            </a:r>
          </a:p>
          <a:p>
            <a:r>
              <a:rPr lang="en-US" sz="1100" u="sng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Project Manager:</a:t>
            </a:r>
            <a:r>
              <a:rPr lang="en-US" sz="11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 </a:t>
            </a:r>
            <a:r>
              <a:rPr lang="en-US" sz="1100" i="1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Abdur Rahman</a:t>
            </a:r>
            <a:r>
              <a:rPr lang="en-US" sz="11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  (230102012)</a:t>
            </a:r>
          </a:p>
          <a:p>
            <a:r>
              <a:rPr lang="en-US" sz="1100" u="sng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Presentation Lead:</a:t>
            </a:r>
            <a:r>
              <a:rPr lang="en-US" sz="11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 </a:t>
            </a:r>
            <a:r>
              <a:rPr lang="en-US" sz="1100" i="1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Rezwan Nafi</a:t>
            </a:r>
            <a:r>
              <a:rPr lang="en-US" sz="11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  (230102029)</a:t>
            </a:r>
          </a:p>
          <a:p>
            <a:r>
              <a:rPr lang="en-US" sz="1100" u="sng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QA Tester:</a:t>
            </a:r>
            <a:r>
              <a:rPr lang="en-US" sz="11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 </a:t>
            </a:r>
            <a:r>
              <a:rPr lang="en-US" sz="1100" i="1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Anushua Biswas Nidhi   </a:t>
            </a:r>
            <a:r>
              <a:rPr lang="en-US" sz="11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(230102020)</a:t>
            </a:r>
          </a:p>
          <a:p>
            <a:r>
              <a:rPr lang="en-US" sz="1100" u="sng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Git Controller:</a:t>
            </a:r>
            <a:r>
              <a:rPr lang="en-US" sz="11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100" i="1" dirty="0" err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Raufe</a:t>
            </a:r>
            <a:r>
              <a:rPr lang="en-US" sz="1100" i="1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Al Hasan Ruhan  </a:t>
            </a:r>
            <a:r>
              <a:rPr lang="en-US" sz="11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(230102028)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0AA039-E9B3-EB3F-CB49-B94CE9AAA0A3}"/>
              </a:ext>
            </a:extLst>
          </p:cNvPr>
          <p:cNvSpPr txBox="1"/>
          <p:nvPr/>
        </p:nvSpPr>
        <p:spPr>
          <a:xfrm>
            <a:off x="320040" y="3565219"/>
            <a:ext cx="3102610" cy="91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5000"/>
              </a:lnSpc>
            </a:pPr>
            <a:r>
              <a:rPr lang="en-US" sz="800" dirty="0">
                <a:solidFill>
                  <a:srgbClr val="FDF3E0"/>
                </a:solidFill>
                <a:latin typeface="Poppins Medium" panose="00000600000000000000" pitchFamily="2" charset="0"/>
                <a:ea typeface="Calibri" pitchFamily="34" charset="-122"/>
                <a:cs typeface="Poppins Medium" panose="00000600000000000000" pitchFamily="2" charset="0"/>
              </a:rPr>
              <a:t>Instructor: Md. </a:t>
            </a:r>
            <a:r>
              <a:rPr lang="en-US" sz="800" dirty="0" err="1">
                <a:solidFill>
                  <a:srgbClr val="FDF3E0"/>
                </a:solidFill>
                <a:latin typeface="Poppins Medium" panose="00000600000000000000" pitchFamily="2" charset="0"/>
                <a:ea typeface="Calibri" pitchFamily="34" charset="-122"/>
                <a:cs typeface="Poppins Medium" panose="00000600000000000000" pitchFamily="2" charset="0"/>
              </a:rPr>
              <a:t>Samsuddoha</a:t>
            </a:r>
            <a:endParaRPr lang="en-US" sz="800" dirty="0">
              <a:solidFill>
                <a:srgbClr val="FDF3E0"/>
              </a:solidFill>
              <a:latin typeface="Poppins Medium" panose="00000600000000000000" pitchFamily="2" charset="0"/>
              <a:ea typeface="Calibri" pitchFamily="34" charset="-122"/>
              <a:cs typeface="Poppins Medium" panose="00000600000000000000" pitchFamily="2" charset="0"/>
            </a:endParaRPr>
          </a:p>
          <a:p>
            <a:pPr>
              <a:lnSpc>
                <a:spcPct val="145000"/>
              </a:lnSpc>
            </a:pPr>
            <a:r>
              <a:rPr lang="en-US" sz="800" dirty="0">
                <a:solidFill>
                  <a:srgbClr val="FDF3E0"/>
                </a:solidFill>
                <a:latin typeface="Poppins Medium" panose="00000600000000000000" pitchFamily="2" charset="0"/>
                <a:ea typeface="Calibri" pitchFamily="34" charset="-122"/>
                <a:cs typeface="Poppins Medium" panose="00000600000000000000" pitchFamily="2" charset="0"/>
              </a:rPr>
              <a:t>                    Assistant Professor</a:t>
            </a:r>
          </a:p>
          <a:p>
            <a:pPr>
              <a:lnSpc>
                <a:spcPct val="145000"/>
              </a:lnSpc>
            </a:pPr>
            <a:r>
              <a:rPr lang="en-US" sz="800" dirty="0">
                <a:solidFill>
                  <a:srgbClr val="FDF3E0"/>
                </a:solidFill>
                <a:latin typeface="Poppins Medium" panose="00000600000000000000" pitchFamily="2" charset="0"/>
                <a:ea typeface="Calibri" pitchFamily="34" charset="-122"/>
                <a:cs typeface="Poppins Medium" panose="00000600000000000000" pitchFamily="2" charset="0"/>
              </a:rPr>
              <a:t>Department of Computer Science &amp; Engineering,</a:t>
            </a:r>
          </a:p>
          <a:p>
            <a:pPr>
              <a:lnSpc>
                <a:spcPct val="145000"/>
              </a:lnSpc>
            </a:pPr>
            <a:r>
              <a:rPr lang="en-US" sz="800" dirty="0">
                <a:solidFill>
                  <a:srgbClr val="FDF3E0"/>
                </a:solidFill>
                <a:latin typeface="Poppins Medium" panose="00000600000000000000" pitchFamily="2" charset="0"/>
                <a:ea typeface="Calibri" pitchFamily="34" charset="-122"/>
                <a:cs typeface="Poppins Medium" panose="00000600000000000000" pitchFamily="2" charset="0"/>
              </a:rPr>
              <a:t>University of </a:t>
            </a:r>
            <a:r>
              <a:rPr lang="en-US" sz="800" dirty="0" err="1">
                <a:solidFill>
                  <a:srgbClr val="FDF3E0"/>
                </a:solidFill>
                <a:latin typeface="Poppins Medium" panose="00000600000000000000" pitchFamily="2" charset="0"/>
                <a:ea typeface="Calibri" pitchFamily="34" charset="-122"/>
                <a:cs typeface="Poppins Medium" panose="00000600000000000000" pitchFamily="2" charset="0"/>
              </a:rPr>
              <a:t>Barishal</a:t>
            </a:r>
            <a:r>
              <a:rPr lang="en-US" sz="800" dirty="0">
                <a:solidFill>
                  <a:srgbClr val="FDF3E0"/>
                </a:solidFill>
                <a:latin typeface="Poppins Medium" panose="00000600000000000000" pitchFamily="2" charset="0"/>
                <a:ea typeface="Calibri" pitchFamily="34" charset="-122"/>
                <a:cs typeface="Poppins Medium" panose="00000600000000000000" pitchFamily="2" charset="0"/>
              </a:rPr>
              <a:t>.</a:t>
            </a:r>
          </a:p>
          <a:p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– Smart Real Estate &amp; Rental Management Platform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371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6367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Thikana? Challenges in the market.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234440" y="1965960"/>
            <a:ext cx="3108960" cy="2286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011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92040" y="123444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10912" y="1371600"/>
            <a:ext cx="640080" cy="64008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15" name="Text 13"/>
          <p:cNvSpPr/>
          <p:nvPr/>
        </p:nvSpPr>
        <p:spPr>
          <a:xfrm>
            <a:off x="5010912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6072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Core 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16367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smart search &amp; key offerings.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0" y="1965960"/>
            <a:ext cx="3108960" cy="2286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2011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496312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" y="263347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2587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Smart Experience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28986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intelligence &amp; virtual tours.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234440" y="3227832"/>
            <a:ext cx="3108960" cy="2286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2496312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10912" y="2633472"/>
            <a:ext cx="640080" cy="64008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29" name="Text 27"/>
          <p:cNvSpPr/>
          <p:nvPr/>
        </p:nvSpPr>
        <p:spPr>
          <a:xfrm>
            <a:off x="5010912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60720" y="2587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Process Model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60720" y="28986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flow, Incremental dev model.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60720" y="3227832"/>
            <a:ext cx="3108960" cy="2286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0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758184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" y="3895344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" y="38953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34440" y="38496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 Stack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34440" y="4160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roles, security &amp; tech.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234440" y="4489704"/>
            <a:ext cx="3108960" cy="2286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0" name="Text 38"/>
          <p:cNvSpPr/>
          <p:nvPr/>
        </p:nvSpPr>
        <p:spPr>
          <a:xfrm>
            <a:off x="1234440" y="45354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92040" y="3758184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10912" y="3895344"/>
            <a:ext cx="640080" cy="64008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43" name="Text 41"/>
          <p:cNvSpPr/>
          <p:nvPr/>
        </p:nvSpPr>
        <p:spPr>
          <a:xfrm>
            <a:off x="5010912" y="38953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760720" y="38496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Roadmap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760720" y="4160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budget, timeline &amp; conclusion.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760720" y="4489704"/>
            <a:ext cx="3108960" cy="2286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7" name="Text 45"/>
          <p:cNvSpPr/>
          <p:nvPr/>
        </p:nvSpPr>
        <p:spPr>
          <a:xfrm>
            <a:off x="5760720" y="45354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Thikana?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is a comprehensive digital real estate ecosystem built for Bangladesh — connecting tenants, owners, and property seekers through a unified, trusted platform.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Rent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57400" y="210312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F5C842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Rent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210312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Sell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F5C8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51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Housing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57400" y="265176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2057400" y="2651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0" y="265176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F5C84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2651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Mgmt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46120"/>
            <a:ext cx="146304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649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48840" y="32461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148840" y="3246120"/>
            <a:ext cx="146304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2148840" y="33649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14884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0" y="32461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0" y="3246120"/>
            <a:ext cx="146304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33649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Div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84048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05840"/>
            <a:ext cx="3474720" cy="347472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5394960" y="1005840"/>
            <a:ext cx="3474720" cy="347472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5440680" y="3474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Digital Real Estate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2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– Smart Real Estate &amp; Rental Management Platform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818120" y="4828032"/>
            <a:ext cx="777240" cy="35204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7" name="Text 34"/>
          <p:cNvSpPr/>
          <p:nvPr/>
        </p:nvSpPr>
        <p:spPr>
          <a:xfrm>
            <a:off x="7818120" y="4828032"/>
            <a:ext cx="777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2743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5E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Today's Real Estate Market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914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353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Listings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property posts mislead seekers and waste valuable 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2743200" cy="914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86200" y="1353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Harassment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830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demand excessive fees and manipulate transactions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2743200" cy="914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12280" y="1353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7830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visiting unsuitable properties without prior info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26080"/>
            <a:ext cx="2743200" cy="914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3090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Location Info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5204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neighborhood details, facilities, and area insights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92608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926080"/>
            <a:ext cx="2743200" cy="914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886200" y="3090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Issues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35204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system for buyers, sellers, or property owners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92608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926080"/>
            <a:ext cx="2743200" cy="914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12280" y="3090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Dispute Resolution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5204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between tenants and owners go unresolved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– Smart Real Estate &amp; Rental Management Platform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18120" y="4828032"/>
            <a:ext cx="777240" cy="35204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9" name="Text 37"/>
          <p:cNvSpPr/>
          <p:nvPr/>
        </p:nvSpPr>
        <p:spPr>
          <a:xfrm>
            <a:off x="7818120" y="4828032"/>
            <a:ext cx="777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 &amp; Objectives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97280"/>
            <a:ext cx="109728" cy="10058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430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create a trusted digital platform where people can easily rent, buy, sell, and manage properties safely and efficiently."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31720"/>
            <a:ext cx="26974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87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47872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verified. Every user authenticated through NID and phone.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233172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331720"/>
            <a:ext cx="2697480" cy="914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487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29000" y="3154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3547872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any property from anywhere in Bangladesh — 8 divisions covered.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33172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331720"/>
            <a:ext cx="26974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487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09360" y="3154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547872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&amp; AI tools to help users find the right property faster.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– Smart Real Estate &amp; Rental Management Platform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818120" y="4828032"/>
            <a:ext cx="777240" cy="35204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4828032"/>
            <a:ext cx="777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Thikana Offers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225296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2252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0482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 filter-based instant property search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115568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225296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2252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20482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price, location, rooms &amp; amenities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115568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0" y="1225296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2252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20482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Sell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property purchase and sale support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15568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0" y="1225296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12252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9440" y="20482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Search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Map-based search with area-level discovery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035808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3145536"/>
            <a:ext cx="731520" cy="73152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1455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5760" y="39684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&amp; Call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297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 and direct call with owners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68880" y="3035808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08960" y="3145536"/>
            <a:ext cx="731520" cy="73152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3" name="Text 31"/>
          <p:cNvSpPr/>
          <p:nvPr/>
        </p:nvSpPr>
        <p:spPr>
          <a:xfrm>
            <a:off x="3108960" y="31455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❤️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560320" y="39684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Favorites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60320" y="4297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properties and get availability alerts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035808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03520" y="3145536"/>
            <a:ext cx="731520" cy="73152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0" y="31455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754880" y="39684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4297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Multi-photo gallery view per listing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58000" y="3035808"/>
            <a:ext cx="2011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98080" y="3145536"/>
            <a:ext cx="731520" cy="73152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0" y="31455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949440" y="39684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49440" y="4297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NID verified listings for trusted deals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– Smart Real Estate &amp; Rental Management Platform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818120" y="4828032"/>
            <a:ext cx="777240" cy="35204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49" name="Text 47"/>
          <p:cNvSpPr/>
          <p:nvPr/>
        </p:nvSpPr>
        <p:spPr>
          <a:xfrm>
            <a:off x="7818120" y="4828032"/>
            <a:ext cx="777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743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5E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Features Powered by Data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3891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9144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17320" y="1207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417320" y="155448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property suggestions based on user behaviour and preferences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43891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59152"/>
            <a:ext cx="9144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505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Intelligence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17320" y="281635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neighbourhood data: history, pricing trends, demographics, safety scores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21024"/>
            <a:ext cx="43891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21024"/>
            <a:ext cx="9144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1246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🚦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17320" y="3730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Commute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417320" y="407822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commute estimates from property to key locations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66360" y="1092708"/>
            <a:ext cx="3840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67122" y="1106424"/>
            <a:ext cx="384048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Intelligence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1572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Mirpur, Dhaka — Score: 82/100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0" y="1572768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15727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66360" y="2029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Nearby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40880" y="2075688"/>
            <a:ext cx="1645920" cy="16459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9" name="Shape 27"/>
          <p:cNvSpPr/>
          <p:nvPr/>
        </p:nvSpPr>
        <p:spPr>
          <a:xfrm>
            <a:off x="7040880" y="2075688"/>
            <a:ext cx="1514246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8705088" y="202996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66360" y="2560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Access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40880" y="2606040"/>
            <a:ext cx="1645920" cy="16459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33" name="Shape 31"/>
          <p:cNvSpPr/>
          <p:nvPr/>
        </p:nvSpPr>
        <p:spPr>
          <a:xfrm>
            <a:off x="7040880" y="2606040"/>
            <a:ext cx="1283818" cy="16459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4" name="Text 32"/>
          <p:cNvSpPr/>
          <p:nvPr/>
        </p:nvSpPr>
        <p:spPr>
          <a:xfrm>
            <a:off x="8705088" y="256032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66360" y="30906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Rating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40880" y="3136392"/>
            <a:ext cx="1645920" cy="16459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37" name="Shape 35"/>
          <p:cNvSpPr/>
          <p:nvPr/>
        </p:nvSpPr>
        <p:spPr>
          <a:xfrm>
            <a:off x="7040880" y="3136392"/>
            <a:ext cx="1399032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8705088" y="309067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66360" y="36210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Coverage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40880" y="3666744"/>
            <a:ext cx="1645920" cy="16459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1" name="Shape 39"/>
          <p:cNvSpPr/>
          <p:nvPr/>
        </p:nvSpPr>
        <p:spPr>
          <a:xfrm>
            <a:off x="7040880" y="3666744"/>
            <a:ext cx="1580083" cy="16459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2" name="Text 40"/>
          <p:cNvSpPr/>
          <p:nvPr/>
        </p:nvSpPr>
        <p:spPr>
          <a:xfrm>
            <a:off x="8705088" y="362102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166360" y="4151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040880" y="4197096"/>
            <a:ext cx="1645920" cy="16459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5" name="Shape 43"/>
          <p:cNvSpPr/>
          <p:nvPr/>
        </p:nvSpPr>
        <p:spPr>
          <a:xfrm>
            <a:off x="7040880" y="4197096"/>
            <a:ext cx="1448410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6" name="Text 44"/>
          <p:cNvSpPr/>
          <p:nvPr/>
        </p:nvSpPr>
        <p:spPr>
          <a:xfrm>
            <a:off x="8705088" y="415137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20640" y="4617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Schools  🏥 Hospitals  🕌 Mosques  🛒 Markets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– Smart Real Estate &amp; Rental Management Platform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818120" y="4828032"/>
            <a:ext cx="777240" cy="35204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51" name="Text 49"/>
          <p:cNvSpPr/>
          <p:nvPr/>
        </p:nvSpPr>
        <p:spPr>
          <a:xfrm>
            <a:off x="7818120" y="4828032"/>
            <a:ext cx="777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743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EXPERIENCE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Property Tour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269748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1371600"/>
            <a:ext cx="804672" cy="8046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3716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Room 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743200"/>
            <a:ext cx="14173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83464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panoramic walkthrough of every room with interactive navigation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14300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143000"/>
            <a:ext cx="2697480" cy="7315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1371600"/>
            <a:ext cx="804672" cy="804672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3716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83280" y="23042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Gallery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86200" y="2743200"/>
            <a:ext cx="141732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283464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photo gallery with zoom &amp; swipe navigation for detailed inspection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14300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143000"/>
            <a:ext cx="269748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7086600" y="1371600"/>
            <a:ext cx="804672" cy="8046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13716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63640" y="23042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Plan View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2743200"/>
            <a:ext cx="14173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83464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2D/3D floor plan with measurements and room annotations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34340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Experience before you rent — no surprises, no wasted visits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– Smart Real Estate &amp; Rental Management Platform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818120" y="4828032"/>
            <a:ext cx="777240" cy="35204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2" name="Text 30"/>
          <p:cNvSpPr/>
          <p:nvPr/>
        </p:nvSpPr>
        <p:spPr>
          <a:xfrm>
            <a:off x="7818120" y="4828032"/>
            <a:ext cx="777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5E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Thikana Works — System Workflow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914400" cy="91440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04088" y="2194560"/>
            <a:ext cx="36576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542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" y="290779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securely — phone verification required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07208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755648" y="1261872"/>
            <a:ext cx="914400" cy="914400"/>
          </a:xfrm>
          <a:prstGeom prst="ellipse">
            <a:avLst/>
          </a:prstGeom>
          <a:solidFill>
            <a:srgbClr val="F5C8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55648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139696" y="2194560"/>
            <a:ext cx="36576" cy="3200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2542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72768" y="290779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location, property type or keywords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42816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191256" y="1261872"/>
            <a:ext cx="914400" cy="91440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91256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3575304" y="2194560"/>
            <a:ext cx="36576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099816" y="2542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08376" y="290779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by price, rooms, furnished status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78424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626864" y="1261872"/>
            <a:ext cx="914400" cy="914400"/>
          </a:xfrm>
          <a:prstGeom prst="ellipse">
            <a:avLst/>
          </a:prstGeom>
          <a:solidFill>
            <a:srgbClr val="F5C8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26864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5010912" y="2194560"/>
            <a:ext cx="36576" cy="3200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8" name="Text 26"/>
          <p:cNvSpPr/>
          <p:nvPr/>
        </p:nvSpPr>
        <p:spPr>
          <a:xfrm>
            <a:off x="4535424" y="2542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43984" y="290779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360° tours, floor plans &amp; area data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1403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062472" y="1261872"/>
            <a:ext cx="914400" cy="91440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62472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6446520" y="2194560"/>
            <a:ext cx="36576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5971032" y="2542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79592" y="290779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or call property owner via Thikana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98080" y="1261872"/>
            <a:ext cx="914400" cy="914400"/>
          </a:xfrm>
          <a:prstGeom prst="ellipse">
            <a:avLst/>
          </a:prstGeom>
          <a:solidFill>
            <a:srgbClr val="F5C8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498080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7882128" y="2194560"/>
            <a:ext cx="36576" cy="3200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9" name="Text 37"/>
          <p:cNvSpPr/>
          <p:nvPr/>
        </p:nvSpPr>
        <p:spPr>
          <a:xfrm>
            <a:off x="7406640" y="2542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Done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290779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with digital rental agreement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041648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4041648"/>
            <a:ext cx="91440" cy="64008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409651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interact end-to-end on a single platform — from discovery to digital agreement, entirely online.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– Smart Real Estate &amp; Rental Management Platform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818120" y="4828032"/>
            <a:ext cx="777240" cy="35204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47" name="Text 45"/>
          <p:cNvSpPr/>
          <p:nvPr/>
        </p:nvSpPr>
        <p:spPr>
          <a:xfrm>
            <a:off x="7818120" y="4828032"/>
            <a:ext cx="777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43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Development Model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841248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52044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520440"/>
            <a:ext cx="269748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" y="3639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Why Incremental?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" y="40050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 deliver a working MVP fast, then add features in layers — perfect for a 1.5-month student sprint.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352044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3520440"/>
            <a:ext cx="2697480" cy="7315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3" name="Text 10"/>
          <p:cNvSpPr/>
          <p:nvPr/>
        </p:nvSpPr>
        <p:spPr>
          <a:xfrm>
            <a:off x="3355848" y="3639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Feedback at Every Step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55848" y="40050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increment is tested and shown , allowing quick corrections before the next phase.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26480" y="352044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3520440"/>
            <a:ext cx="269748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6236208" y="3639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MVP Scope (Inc. 1)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36208" y="40050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listing, smart search, user auth &amp; basic map. Core value delivered in Week 3–4.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18120" y="4828032"/>
            <a:ext cx="777240" cy="35204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22" name="Text 19"/>
          <p:cNvSpPr/>
          <p:nvPr/>
        </p:nvSpPr>
        <p:spPr>
          <a:xfrm>
            <a:off x="7818120" y="4828032"/>
            <a:ext cx="777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743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5E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01168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972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14264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1920240"/>
            <a:ext cx="1792224" cy="777240"/>
          </a:xfrm>
          <a:prstGeom prst="roundRect">
            <a:avLst>
              <a:gd name="adj" fmla="val 7059"/>
            </a:avLst>
          </a:prstGeom>
          <a:solidFill>
            <a:srgbClr val="FFF8EE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98424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30428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880360"/>
            <a:ext cx="1792224" cy="777240"/>
          </a:xfrm>
          <a:prstGeom prst="roundRect">
            <a:avLst>
              <a:gd name="adj" fmla="val 7059"/>
            </a:avLst>
          </a:prstGeom>
          <a:solidFill>
            <a:srgbClr val="FFF8EE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94436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326440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840480"/>
            <a:ext cx="1792224" cy="777240"/>
          </a:xfrm>
          <a:prstGeom prst="roundRect">
            <a:avLst>
              <a:gd name="adj" fmla="val 7059"/>
            </a:avLst>
          </a:prstGeom>
          <a:solidFill>
            <a:srgbClr val="FFF8EE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390448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/ Tailwind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22452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styling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50592" y="1097280"/>
            <a:ext cx="20116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50592" y="1097280"/>
            <a:ext cx="2011680" cy="65836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1" name="Text 19"/>
          <p:cNvSpPr/>
          <p:nvPr/>
        </p:nvSpPr>
        <p:spPr>
          <a:xfrm>
            <a:off x="2450592" y="10972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50592" y="14264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0" y="1920240"/>
            <a:ext cx="1792224" cy="777240"/>
          </a:xfrm>
          <a:prstGeom prst="roundRect">
            <a:avLst>
              <a:gd name="adj" fmla="val 7059"/>
            </a:avLst>
          </a:prstGeom>
          <a:solidFill>
            <a:srgbClr val="FFF8EE"/>
          </a:solidFill>
          <a:ln/>
        </p:spPr>
      </p:sp>
      <p:sp>
        <p:nvSpPr>
          <p:cNvPr id="24" name="Text 22"/>
          <p:cNvSpPr/>
          <p:nvPr/>
        </p:nvSpPr>
        <p:spPr>
          <a:xfrm>
            <a:off x="2615184" y="198424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15184" y="230428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runtime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0" y="2880360"/>
            <a:ext cx="1792224" cy="777240"/>
          </a:xfrm>
          <a:prstGeom prst="roundRect">
            <a:avLst>
              <a:gd name="adj" fmla="val 7059"/>
            </a:avLst>
          </a:prstGeom>
          <a:solidFill>
            <a:srgbClr val="FFF8EE"/>
          </a:solidFill>
          <a:ln/>
        </p:spPr>
      </p:sp>
      <p:sp>
        <p:nvSpPr>
          <p:cNvPr id="27" name="Text 25"/>
          <p:cNvSpPr/>
          <p:nvPr/>
        </p:nvSpPr>
        <p:spPr>
          <a:xfrm>
            <a:off x="2615184" y="294436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/ Laravel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15184" y="326440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0" y="3840480"/>
            <a:ext cx="1792224" cy="777240"/>
          </a:xfrm>
          <a:prstGeom prst="roundRect">
            <a:avLst>
              <a:gd name="adj" fmla="val 7059"/>
            </a:avLst>
          </a:prstGeom>
          <a:solidFill>
            <a:srgbClr val="FFF8EE"/>
          </a:solidFill>
          <a:ln/>
        </p:spPr>
      </p:sp>
      <p:sp>
        <p:nvSpPr>
          <p:cNvPr id="30" name="Text 28"/>
          <p:cNvSpPr/>
          <p:nvPr/>
        </p:nvSpPr>
        <p:spPr>
          <a:xfrm>
            <a:off x="2615184" y="390448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15184" y="422452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framework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26864" y="1097280"/>
            <a:ext cx="20116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26864" y="1097280"/>
            <a:ext cx="2011680" cy="658368"/>
          </a:xfrm>
          <a:prstGeom prst="rect">
            <a:avLst/>
          </a:prstGeom>
          <a:solidFill>
            <a:srgbClr val="025E6D"/>
          </a:solidFill>
          <a:ln/>
        </p:spPr>
      </p:sp>
      <p:sp>
        <p:nvSpPr>
          <p:cNvPr id="34" name="Text 32"/>
          <p:cNvSpPr/>
          <p:nvPr/>
        </p:nvSpPr>
        <p:spPr>
          <a:xfrm>
            <a:off x="4626864" y="10972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26864" y="14264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36592" y="1920240"/>
            <a:ext cx="1792224" cy="777240"/>
          </a:xfrm>
          <a:prstGeom prst="roundRect">
            <a:avLst>
              <a:gd name="adj" fmla="val 7059"/>
            </a:avLst>
          </a:prstGeom>
          <a:solidFill>
            <a:srgbClr val="FFF8EE"/>
          </a:solidFill>
          <a:ln/>
        </p:spPr>
      </p:sp>
      <p:sp>
        <p:nvSpPr>
          <p:cNvPr id="37" name="Text 35"/>
          <p:cNvSpPr/>
          <p:nvPr/>
        </p:nvSpPr>
        <p:spPr>
          <a:xfrm>
            <a:off x="4791456" y="198424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91456" y="230428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91456" y="294436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91456" y="326440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91456" y="390448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91456" y="422452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03136" y="1097280"/>
            <a:ext cx="20116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03136" y="1097280"/>
            <a:ext cx="2011680" cy="65836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7" name="Text 45"/>
          <p:cNvSpPr/>
          <p:nvPr/>
        </p:nvSpPr>
        <p:spPr>
          <a:xfrm>
            <a:off x="6803136" y="10972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03136" y="14264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Cloud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912864" y="1920240"/>
            <a:ext cx="1792224" cy="777240"/>
          </a:xfrm>
          <a:prstGeom prst="roundRect">
            <a:avLst>
              <a:gd name="adj" fmla="val 7059"/>
            </a:avLst>
          </a:prstGeom>
          <a:solidFill>
            <a:srgbClr val="FFF8EE"/>
          </a:solidFill>
          <a:ln/>
        </p:spPr>
      </p:sp>
      <p:sp>
        <p:nvSpPr>
          <p:cNvPr id="50" name="Text 48"/>
          <p:cNvSpPr/>
          <p:nvPr/>
        </p:nvSpPr>
        <p:spPr>
          <a:xfrm>
            <a:off x="6967728" y="198424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67728" y="230428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services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912864" y="2880360"/>
            <a:ext cx="1792224" cy="777240"/>
          </a:xfrm>
          <a:prstGeom prst="roundRect">
            <a:avLst>
              <a:gd name="adj" fmla="val 7059"/>
            </a:avLst>
          </a:prstGeom>
          <a:solidFill>
            <a:srgbClr val="FFF8EE"/>
          </a:solidFill>
          <a:ln/>
        </p:spPr>
      </p:sp>
      <p:sp>
        <p:nvSpPr>
          <p:cNvPr id="53" name="Text 51"/>
          <p:cNvSpPr/>
          <p:nvPr/>
        </p:nvSpPr>
        <p:spPr>
          <a:xfrm>
            <a:off x="6967728" y="294436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67728" y="326440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files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12864" y="3840480"/>
            <a:ext cx="1792224" cy="777240"/>
          </a:xfrm>
          <a:prstGeom prst="roundRect">
            <a:avLst>
              <a:gd name="adj" fmla="val 7059"/>
            </a:avLst>
          </a:prstGeom>
          <a:solidFill>
            <a:srgbClr val="FFF8EE"/>
          </a:solidFill>
          <a:ln/>
        </p:spPr>
      </p:sp>
      <p:sp>
        <p:nvSpPr>
          <p:cNvPr id="56" name="Text 54"/>
          <p:cNvSpPr/>
          <p:nvPr/>
        </p:nvSpPr>
        <p:spPr>
          <a:xfrm>
            <a:off x="6967728" y="390448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67728" y="422452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– Smart Real Estate &amp; Rental Management Platform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818120" y="4828032"/>
            <a:ext cx="777240" cy="35204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61" name="Text 59"/>
          <p:cNvSpPr/>
          <p:nvPr/>
        </p:nvSpPr>
        <p:spPr>
          <a:xfrm>
            <a:off x="7818120" y="4828032"/>
            <a:ext cx="777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743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Architecture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566160" y="2002536"/>
            <a:ext cx="2011680" cy="201168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66160" y="18288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43000"/>
            <a:ext cx="2011680" cy="822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252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Tenant Dashboard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54533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filters, favorites, virtual tours &amp; booking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65500" y="1078992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429000" y="1078992"/>
            <a:ext cx="2011680" cy="8229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4" name="Text 12"/>
          <p:cNvSpPr/>
          <p:nvPr/>
        </p:nvSpPr>
        <p:spPr>
          <a:xfrm>
            <a:off x="3502152" y="11887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Owner Dashboard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02152" y="148132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listings, manage bookings &amp; view insights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0" y="114300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143000"/>
            <a:ext cx="2011680" cy="822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931152" y="1252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Admin Dashboard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31152" y="154533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verification, reports &amp; system monitoring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32320" y="292608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0" y="2926080"/>
            <a:ext cx="2011680" cy="8229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2" name="Text 20"/>
          <p:cNvSpPr/>
          <p:nvPr/>
        </p:nvSpPr>
        <p:spPr>
          <a:xfrm>
            <a:off x="7205472" y="30358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Buy/Sell Marketplace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05472" y="332841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trade with secure transaction support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03520" y="411480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0" y="4114800"/>
            <a:ext cx="2011680" cy="822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376672" y="42245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Smart Search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76672" y="451713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Geo-search, preferences &amp; price predictions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0" y="411480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0" y="4114800"/>
            <a:ext cx="2011680" cy="8229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0" name="Text 28"/>
          <p:cNvSpPr/>
          <p:nvPr/>
        </p:nvSpPr>
        <p:spPr>
          <a:xfrm>
            <a:off x="1901952" y="42245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 Module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901952" y="451713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demand trends &amp; engagement metrics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" y="2926080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2926080"/>
            <a:ext cx="2011680" cy="822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" y="30358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Verification System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6032" y="332841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checks, document OCR &amp; fraud scoring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– Smart Real Estate &amp; Rental Management Platform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18120" y="4828032"/>
            <a:ext cx="777240" cy="35204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9" name="Text 37"/>
          <p:cNvSpPr/>
          <p:nvPr/>
        </p:nvSpPr>
        <p:spPr>
          <a:xfrm>
            <a:off x="7818120" y="4828032"/>
            <a:ext cx="777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&amp; Permissions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2697480" cy="9326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430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" y="2276856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21284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listings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" y="2715768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265176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favorite properties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3154680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3090672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property owners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3593592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3529584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property visits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" y="4032504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968496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reviews &amp; ratings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4471416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440740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area intelligence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111556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115568"/>
            <a:ext cx="2697480" cy="93268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11430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200400" y="16459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64992" y="2276856"/>
            <a:ext cx="201168" cy="201168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27" name="Text 25"/>
          <p:cNvSpPr/>
          <p:nvPr/>
        </p:nvSpPr>
        <p:spPr>
          <a:xfrm>
            <a:off x="3639312" y="221284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&amp; manage listings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64992" y="2715768"/>
            <a:ext cx="201168" cy="201168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29" name="Text 27"/>
          <p:cNvSpPr/>
          <p:nvPr/>
        </p:nvSpPr>
        <p:spPr>
          <a:xfrm>
            <a:off x="3639312" y="265176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photos &amp; floor plans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64992" y="3154680"/>
            <a:ext cx="201168" cy="201168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1" name="Text 29"/>
          <p:cNvSpPr/>
          <p:nvPr/>
        </p:nvSpPr>
        <p:spPr>
          <a:xfrm>
            <a:off x="3639312" y="3090672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tenant enquiries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64992" y="3593592"/>
            <a:ext cx="201168" cy="201168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3" name="Text 31"/>
          <p:cNvSpPr/>
          <p:nvPr/>
        </p:nvSpPr>
        <p:spPr>
          <a:xfrm>
            <a:off x="3639312" y="3529584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listing analytics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64992" y="4032504"/>
            <a:ext cx="201168" cy="201168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5" name="Text 33"/>
          <p:cNvSpPr/>
          <p:nvPr/>
        </p:nvSpPr>
        <p:spPr>
          <a:xfrm>
            <a:off x="3639312" y="3968496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pricing &amp; availability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64992" y="4471416"/>
            <a:ext cx="201168" cy="201168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7" name="Text 35"/>
          <p:cNvSpPr/>
          <p:nvPr/>
        </p:nvSpPr>
        <p:spPr>
          <a:xfrm>
            <a:off x="3639312" y="440740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tenant profiles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80760" y="111556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80760" y="1115568"/>
            <a:ext cx="2697480" cy="932688"/>
          </a:xfrm>
          <a:prstGeom prst="rect">
            <a:avLst/>
          </a:prstGeom>
          <a:solidFill>
            <a:srgbClr val="025E6D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11430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080760" y="16459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45352" y="2276856"/>
            <a:ext cx="201168" cy="201168"/>
          </a:xfrm>
          <a:prstGeom prst="ellipse">
            <a:avLst/>
          </a:prstGeom>
          <a:solidFill>
            <a:srgbClr val="025E6D"/>
          </a:solidFill>
          <a:ln/>
        </p:spPr>
      </p:sp>
      <p:sp>
        <p:nvSpPr>
          <p:cNvPr id="43" name="Text 41"/>
          <p:cNvSpPr/>
          <p:nvPr/>
        </p:nvSpPr>
        <p:spPr>
          <a:xfrm>
            <a:off x="6519672" y="221284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user accounts &amp; NID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45352" y="2715768"/>
            <a:ext cx="201168" cy="201168"/>
          </a:xfrm>
          <a:prstGeom prst="ellipse">
            <a:avLst/>
          </a:prstGeom>
          <a:solidFill>
            <a:srgbClr val="025E6D"/>
          </a:solidFill>
          <a:ln/>
        </p:spPr>
      </p:sp>
      <p:sp>
        <p:nvSpPr>
          <p:cNvPr id="45" name="Text 43"/>
          <p:cNvSpPr/>
          <p:nvPr/>
        </p:nvSpPr>
        <p:spPr>
          <a:xfrm>
            <a:off x="6519672" y="265176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listings &amp; reviews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45352" y="3154680"/>
            <a:ext cx="201168" cy="201168"/>
          </a:xfrm>
          <a:prstGeom prst="ellipse">
            <a:avLst/>
          </a:prstGeom>
          <a:solidFill>
            <a:srgbClr val="025E6D"/>
          </a:solidFill>
          <a:ln/>
        </p:spPr>
      </p:sp>
      <p:sp>
        <p:nvSpPr>
          <p:cNvPr id="47" name="Text 45"/>
          <p:cNvSpPr/>
          <p:nvPr/>
        </p:nvSpPr>
        <p:spPr>
          <a:xfrm>
            <a:off x="6519672" y="3090672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disputes &amp; reports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45352" y="3593592"/>
            <a:ext cx="201168" cy="201168"/>
          </a:xfrm>
          <a:prstGeom prst="ellipse">
            <a:avLst/>
          </a:prstGeom>
          <a:solidFill>
            <a:srgbClr val="025E6D"/>
          </a:solidFill>
          <a:ln/>
        </p:spPr>
      </p:sp>
      <p:sp>
        <p:nvSpPr>
          <p:cNvPr id="49" name="Text 47"/>
          <p:cNvSpPr/>
          <p:nvPr/>
        </p:nvSpPr>
        <p:spPr>
          <a:xfrm>
            <a:off x="6519672" y="3529584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analytics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45352" y="4032504"/>
            <a:ext cx="201168" cy="201168"/>
          </a:xfrm>
          <a:prstGeom prst="ellipse">
            <a:avLst/>
          </a:prstGeom>
          <a:solidFill>
            <a:srgbClr val="025E6D"/>
          </a:solidFill>
          <a:ln/>
        </p:spPr>
      </p:sp>
      <p:sp>
        <p:nvSpPr>
          <p:cNvPr id="51" name="Text 49"/>
          <p:cNvSpPr/>
          <p:nvPr/>
        </p:nvSpPr>
        <p:spPr>
          <a:xfrm>
            <a:off x="6519672" y="3968496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ban &amp; suspension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45352" y="4471416"/>
            <a:ext cx="201168" cy="201168"/>
          </a:xfrm>
          <a:prstGeom prst="ellipse">
            <a:avLst/>
          </a:prstGeom>
          <a:solidFill>
            <a:srgbClr val="025E6D"/>
          </a:solidFill>
          <a:ln/>
        </p:spPr>
      </p:sp>
      <p:sp>
        <p:nvSpPr>
          <p:cNvPr id="53" name="Text 51"/>
          <p:cNvSpPr/>
          <p:nvPr/>
        </p:nvSpPr>
        <p:spPr>
          <a:xfrm>
            <a:off x="6519672" y="440740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– Smart Real Estate &amp; Rental Management Platform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818120" y="4828032"/>
            <a:ext cx="777240" cy="35204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57" name="Text 55"/>
          <p:cNvSpPr/>
          <p:nvPr/>
        </p:nvSpPr>
        <p:spPr>
          <a:xfrm>
            <a:off x="7818120" y="4828032"/>
            <a:ext cx="777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743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5E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Verification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2519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44168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44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22529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Verification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591056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phone number authentication for all users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42519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344168"/>
            <a:ext cx="685800" cy="68580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344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🪪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715000" y="122529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 Verification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1591056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 card verification for property owners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14016"/>
            <a:ext cx="42519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42616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426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252374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Listing Detection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2889504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algorithms to flag and remove fraudulent posts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414016"/>
            <a:ext cx="42519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642616"/>
            <a:ext cx="685800" cy="68580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6426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715000" y="252374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15000" y="2889504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+ OAuth 2.0 multi-factor authentication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12464"/>
            <a:ext cx="42519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941064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9410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🚩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280160" y="382219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4187952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 content moderation and flag system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712464"/>
            <a:ext cx="42519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3941064"/>
            <a:ext cx="685800" cy="68580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9410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715000" y="382219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Reputation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15000" y="4187952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and review system builds long-term trust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– Smart Real Estate &amp; Rental Management Platform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18120" y="4828032"/>
            <a:ext cx="777240" cy="35204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9" name="Text 37"/>
          <p:cNvSpPr/>
          <p:nvPr/>
        </p:nvSpPr>
        <p:spPr>
          <a:xfrm>
            <a:off x="7818120" y="4828032"/>
            <a:ext cx="777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TIMELINE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Cost &amp; 1.5-Month Development Schedule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Full Project Estimated Budget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 15,00,000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2514600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&amp; Frontend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25146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৳2,50,000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916936"/>
            <a:ext cx="4160520" cy="347472"/>
          </a:xfrm>
          <a:prstGeom prst="rect">
            <a:avLst/>
          </a:prstGeom>
          <a:solidFill>
            <a:srgbClr val="FDF3E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169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91693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৳4,50,000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319272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192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Smart Features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331927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৳3,00,000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21608"/>
            <a:ext cx="4160520" cy="347472"/>
          </a:xfrm>
          <a:prstGeom prst="rect">
            <a:avLst/>
          </a:prstGeom>
          <a:solidFill>
            <a:srgbClr val="FDF3E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216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372160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৳2,00,000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123944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239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Others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12394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৳3,00,000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078992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E8A02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1155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 Initial Budget (1.5 Months)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146304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 12,000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709160" y="2514600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514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(shared, 1.5 mo)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25146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৳2,000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916936"/>
            <a:ext cx="4160520" cy="347472"/>
          </a:xfrm>
          <a:prstGeom prst="rect">
            <a:avLst/>
          </a:prstGeom>
          <a:solidFill>
            <a:srgbClr val="FDF3E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9169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(.com, 1 year)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291693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৳1,500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319272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3192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 (free tier)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89520" y="331927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721608"/>
            <a:ext cx="4160520" cy="347472"/>
          </a:xfrm>
          <a:prstGeom prst="rect">
            <a:avLst/>
          </a:prstGeom>
          <a:solidFill>
            <a:srgbClr val="FDF3E0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7216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Spark Plan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89520" y="372160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4123944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41239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Design tools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89520" y="412394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</a:t>
            </a: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4526280"/>
            <a:ext cx="4160520" cy="347472"/>
          </a:xfrm>
          <a:prstGeom prst="rect">
            <a:avLst/>
          </a:prstGeom>
          <a:solidFill>
            <a:srgbClr val="FDF3E0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4526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 &amp; misc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89520" y="45262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৳8,500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617720"/>
            <a:ext cx="8503920" cy="20116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" y="4617720"/>
            <a:ext cx="2011680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4617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  Research &amp; UI/UX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441448" y="4617720"/>
            <a:ext cx="2011680" cy="20116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9" name="Text 47"/>
          <p:cNvSpPr/>
          <p:nvPr/>
        </p:nvSpPr>
        <p:spPr>
          <a:xfrm>
            <a:off x="2441448" y="4617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  Core Dev (MVP)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62856" y="4617720"/>
            <a:ext cx="2011680" cy="201168"/>
          </a:xfrm>
          <a:prstGeom prst="rect">
            <a:avLst/>
          </a:prstGeom>
          <a:solidFill>
            <a:srgbClr val="4FB8C5"/>
          </a:solidFill>
          <a:ln/>
        </p:spPr>
      </p:sp>
      <p:sp>
        <p:nvSpPr>
          <p:cNvPr id="51" name="Text 49"/>
          <p:cNvSpPr/>
          <p:nvPr/>
        </p:nvSpPr>
        <p:spPr>
          <a:xfrm>
            <a:off x="4562856" y="4617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  Smart Features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684264" y="4617720"/>
            <a:ext cx="2011680" cy="20116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3" name="Text 51"/>
          <p:cNvSpPr/>
          <p:nvPr/>
        </p:nvSpPr>
        <p:spPr>
          <a:xfrm>
            <a:off x="6684264" y="4617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  Test &amp; Fix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892040"/>
            <a:ext cx="6858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 – Smart Real Estate &amp; Rental Management Platform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818120" y="4828032"/>
            <a:ext cx="777240" cy="35204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57" name="Text 55"/>
          <p:cNvSpPr/>
          <p:nvPr/>
        </p:nvSpPr>
        <p:spPr>
          <a:xfrm>
            <a:off x="7818120" y="4828032"/>
            <a:ext cx="777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743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138AA-8846-085F-BEC5-C7F2BCE5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C7B0B76-C681-0FE9-B096-C3D2BF3CD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0"/>
            <a:ext cx="498348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AAB56B9-39C5-B75D-E1B2-8B733C7C9E57}"/>
              </a:ext>
            </a:extLst>
          </p:cNvPr>
          <p:cNvSpPr/>
          <p:nvPr/>
        </p:nvSpPr>
        <p:spPr>
          <a:xfrm>
            <a:off x="4155948" y="33528"/>
            <a:ext cx="4983480" cy="5143500"/>
          </a:xfrm>
          <a:prstGeom prst="rect">
            <a:avLst/>
          </a:prstGeom>
          <a:solidFill>
            <a:srgbClr val="025E6D">
              <a:alpha val="85000"/>
            </a:srgbClr>
          </a:soli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CA94601-5B9C-1B0D-CFEE-AB40B30663A8}"/>
              </a:ext>
            </a:extLst>
          </p:cNvPr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5BD05A8-CC8D-4D2D-FC11-33C907551386}"/>
              </a:ext>
            </a:extLst>
          </p:cNvPr>
          <p:cNvSpPr/>
          <p:nvPr/>
        </p:nvSpPr>
        <p:spPr>
          <a:xfrm>
            <a:off x="4133088" y="0"/>
            <a:ext cx="91440" cy="514350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4116E37-2B11-ECE2-CD91-063AC42ED785}"/>
              </a:ext>
            </a:extLst>
          </p:cNvPr>
          <p:cNvSpPr/>
          <p:nvPr/>
        </p:nvSpPr>
        <p:spPr>
          <a:xfrm>
            <a:off x="320040" y="274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ঠ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971E5D2-E6A6-3B2F-2A14-4CCAE45AEA33}"/>
              </a:ext>
            </a:extLst>
          </p:cNvPr>
          <p:cNvSpPr/>
          <p:nvPr/>
        </p:nvSpPr>
        <p:spPr>
          <a:xfrm>
            <a:off x="274320" y="1188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THIKANA</a:t>
            </a:r>
            <a:endParaRPr lang="en-US" sz="5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B8D5DD-3685-21E1-A57F-468C302A6B31}"/>
              </a:ext>
            </a:extLst>
          </p:cNvPr>
          <p:cNvSpPr/>
          <p:nvPr/>
        </p:nvSpPr>
        <p:spPr>
          <a:xfrm>
            <a:off x="274320" y="19933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ঠিকানা</a:t>
            </a:r>
            <a:endParaRPr lang="en-US" sz="2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2E1847A-B774-B846-47AD-407FACF7DDB7}"/>
              </a:ext>
            </a:extLst>
          </p:cNvPr>
          <p:cNvSpPr/>
          <p:nvPr/>
        </p:nvSpPr>
        <p:spPr>
          <a:xfrm>
            <a:off x="274320" y="25146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Real Estate &amp;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Management Platform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10235CF-0CBD-E774-FDC7-46D75F2965B3}"/>
              </a:ext>
            </a:extLst>
          </p:cNvPr>
          <p:cNvSpPr/>
          <p:nvPr/>
        </p:nvSpPr>
        <p:spPr>
          <a:xfrm>
            <a:off x="274320" y="3401568"/>
            <a:ext cx="3474720" cy="2286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CC29706-D1AE-AD15-ABAA-F3426D474059}"/>
              </a:ext>
            </a:extLst>
          </p:cNvPr>
          <p:cNvSpPr/>
          <p:nvPr/>
        </p:nvSpPr>
        <p:spPr>
          <a:xfrm>
            <a:off x="4572000" y="3204210"/>
            <a:ext cx="3657600" cy="1010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>
              <a:solidFill>
                <a:srgbClr val="FDF3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18681F2-0DA2-950C-1AAC-F553D7FDE802}"/>
              </a:ext>
            </a:extLst>
          </p:cNvPr>
          <p:cNvSpPr/>
          <p:nvPr/>
        </p:nvSpPr>
        <p:spPr>
          <a:xfrm>
            <a:off x="4343400" y="42245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94178BE-5C9C-89EC-95E5-72794F0BC40C}"/>
              </a:ext>
            </a:extLst>
          </p:cNvPr>
          <p:cNvSpPr/>
          <p:nvPr/>
        </p:nvSpPr>
        <p:spPr>
          <a:xfrm>
            <a:off x="274320" y="4663440"/>
            <a:ext cx="3657600" cy="320040"/>
          </a:xfrm>
          <a:prstGeom prst="roundRect">
            <a:avLst>
              <a:gd name="adj" fmla="val 17143"/>
            </a:avLst>
          </a:prstGeom>
          <a:solidFill>
            <a:srgbClr val="025E6D"/>
          </a:solidFill>
          <a:ln/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39F7D98-CFD3-7B56-0EC1-3186EE30E0EE}"/>
              </a:ext>
            </a:extLst>
          </p:cNvPr>
          <p:cNvSpPr/>
          <p:nvPr/>
        </p:nvSpPr>
        <p:spPr>
          <a:xfrm>
            <a:off x="27432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950" b="1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 Stack Alchemists Team</a:t>
            </a:r>
            <a:endParaRPr lang="en-US" sz="95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318097A-6D21-4E28-98EC-07BA1A3BAB76}"/>
              </a:ext>
            </a:extLst>
          </p:cNvPr>
          <p:cNvSpPr/>
          <p:nvPr/>
        </p:nvSpPr>
        <p:spPr>
          <a:xfrm>
            <a:off x="4315968" y="4736592"/>
            <a:ext cx="4663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AF4CDEB-FFB4-5EDC-4E66-659843DC1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63" y="132503"/>
            <a:ext cx="1714754" cy="11431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197F604-0C37-F5C4-9F50-0769F61A9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4378" y="55880"/>
            <a:ext cx="966470" cy="9664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73CA4B1-540E-2968-3C17-16E46E61E9D0}"/>
              </a:ext>
            </a:extLst>
          </p:cNvPr>
          <p:cNvSpPr txBox="1"/>
          <p:nvPr/>
        </p:nvSpPr>
        <p:spPr>
          <a:xfrm>
            <a:off x="4572000" y="1275672"/>
            <a:ext cx="4121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AD3089-0D77-E7B3-DF46-8503EF3ED5C3}"/>
              </a:ext>
            </a:extLst>
          </p:cNvPr>
          <p:cNvSpPr txBox="1"/>
          <p:nvPr/>
        </p:nvSpPr>
        <p:spPr>
          <a:xfrm>
            <a:off x="4689221" y="1176020"/>
            <a:ext cx="33665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i="1" dirty="0">
                <a:solidFill>
                  <a:schemeClr val="bg1"/>
                </a:solidFill>
                <a:latin typeface="IBM Plex Mono" panose="020B0809050203000203" pitchFamily="49" charset="0"/>
              </a:rPr>
              <a:t>Thank</a:t>
            </a:r>
            <a:br>
              <a:rPr lang="en-US" sz="6000" i="1" dirty="0">
                <a:solidFill>
                  <a:schemeClr val="bg1"/>
                </a:solidFill>
                <a:latin typeface="IBM Plex Mono" panose="020B0809050203000203" pitchFamily="49" charset="0"/>
              </a:rPr>
            </a:br>
            <a:r>
              <a:rPr lang="en-US" sz="6000" i="1" dirty="0">
                <a:solidFill>
                  <a:schemeClr val="bg1"/>
                </a:solidFill>
                <a:latin typeface="IBM Plex Mono" panose="020B0809050203000203" pitchFamily="49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794348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1380</Words>
  <Application>Microsoft Office PowerPoint</Application>
  <PresentationFormat>On-screen Show (16:9)</PresentationFormat>
  <Paragraphs>363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IBM Plex Mono</vt:lpstr>
      <vt:lpstr>Poppins Medium</vt:lpstr>
      <vt:lpstr>Poppins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Thikana – Smart Real Estate &amp; Rental Management Platform</dc:title>
  <dc:subject>PptxGenJS Presentation</dc:subject>
  <dc:creator>PptxGenJS</dc:creator>
  <cp:lastModifiedBy>Arafat Rahaman</cp:lastModifiedBy>
  <cp:revision>10</cp:revision>
  <dcterms:created xsi:type="dcterms:W3CDTF">2026-05-17T01:59:41Z</dcterms:created>
  <dcterms:modified xsi:type="dcterms:W3CDTF">2026-05-17T05:45:39Z</dcterms:modified>
</cp:coreProperties>
</file>